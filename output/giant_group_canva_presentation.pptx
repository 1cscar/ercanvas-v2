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2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66928"/>
            <a:ext cx="731520" cy="731520"/>
          </a:xfrm>
          <a:prstGeom prst="ellipse">
            <a:avLst/>
          </a:prstGeom>
          <a:solidFill>
            <a:srgbClr val="DB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27432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Giant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292608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From Bicycle Maker to Urban Mobility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9204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9E5"/>
                </a:solidFill>
                <a:latin typeface="Calibri"/>
              </a:rPr>
              <a:t>Strategy case deck
English version · concise text · image slots preserved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777240"/>
            <a:ext cx="7406640" cy="5303520"/>
          </a:xfrm>
          <a:prstGeom prst="roundRect">
            <a:avLst/>
          </a:prstGeom>
          <a:solidFill>
            <a:srgbClr val="E8EFED"/>
          </a:solidFill>
          <a:ln w="1905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7468"/>
                </a:solidFill>
                <a:latin typeface="Calibri"/>
              </a:rPr>
              <a:t>HERO IMAGE</a:t>
            </a:r>
          </a:p>
          <a:p>
            <a:pPr algn="ctr"/>
            <a:r>
              <a:rPr sz="1100">
                <a:solidFill>
                  <a:srgbClr val="5C6A67"/>
                </a:solidFill>
                <a:latin typeface="Calibri"/>
              </a:rPr>
              <a:t>photo / chart / screenshot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6172200"/>
            <a:ext cx="7406640" cy="274320"/>
          </a:xfrm>
          <a:prstGeom prst="rect">
            <a:avLst/>
          </a:prstGeom>
          <a:solidFill>
            <a:srgbClr val="187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Why the Pivot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2E0DC"/>
                </a:solidFill>
                <a:latin typeface="Calibri"/>
              </a:rPr>
              <a:t>2009 →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60350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2302A"/>
                </a:solidFill>
                <a:latin typeface="Calibri"/>
              </a:rPr>
              <a:t>Market saturation pushed Giant beyond hardware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394960" cy="2834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5C6A67"/>
                </a:solidFill>
                <a:latin typeface="Calibri"/>
              </a:rPr>
              <a:t>Traditional bicycle OEM margins were shrinking.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5C6A67"/>
                </a:solidFill>
                <a:latin typeface="Calibri"/>
              </a:rPr>
              <a:t>Giant needed recurring revenue, not only one-time product sales.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>
                <a:solidFill>
                  <a:srgbClr val="5C6A67"/>
                </a:solidFill>
                <a:latin typeface="Calibri"/>
              </a:rPr>
              <a:t>The Taipei public bike pilot opened a new B2G2C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526280"/>
            <a:ext cx="1554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1972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Founded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452628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2009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Taipei 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452628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2026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12 cities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097280"/>
            <a:ext cx="5257800" cy="4572000"/>
          </a:xfrm>
          <a:prstGeom prst="roundRect">
            <a:avLst/>
          </a:prstGeom>
          <a:solidFill>
            <a:srgbClr val="E8EFED"/>
          </a:solidFill>
          <a:ln w="1905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7468"/>
                </a:solidFill>
                <a:latin typeface="Calibri"/>
              </a:rPr>
              <a:t>INSERT IMAGE / TIMELINE</a:t>
            </a:r>
          </a:p>
          <a:p>
            <a:pPr algn="ctr"/>
            <a:r>
              <a:rPr sz="1100">
                <a:solidFill>
                  <a:srgbClr val="5C6A67"/>
                </a:solidFill>
                <a:latin typeface="Calibri"/>
              </a:rPr>
              <a:t>photo / chart / screenshot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Servitization: Access Over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2E0DC"/>
                </a:solidFill>
                <a:latin typeface="Calibri"/>
              </a:rPr>
              <a:t>Recurring revenue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6217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2302A"/>
                </a:solidFill>
                <a:latin typeface="Calibri"/>
              </a:rPr>
              <a:t>Giant became a solution provider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143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Hardware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Bike + dock</a:t>
            </a:r>
          </a:p>
        </p:txBody>
      </p:sp>
      <p:sp>
        <p:nvSpPr>
          <p:cNvPr id="7" name="Chevron 6"/>
          <p:cNvSpPr/>
          <p:nvPr/>
        </p:nvSpPr>
        <p:spPr>
          <a:xfrm>
            <a:off x="1810512" y="1965960"/>
            <a:ext cx="274320" cy="320040"/>
          </a:xfrm>
          <a:prstGeom prst="chevron">
            <a:avLst/>
          </a:prstGeom>
          <a:solidFill>
            <a:srgbClr val="DB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1600200"/>
            <a:ext cx="1143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Operations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Maintenance + dispatch</a:t>
            </a:r>
          </a:p>
        </p:txBody>
      </p:sp>
      <p:sp>
        <p:nvSpPr>
          <p:cNvPr id="9" name="Chevron 8"/>
          <p:cNvSpPr/>
          <p:nvPr/>
        </p:nvSpPr>
        <p:spPr>
          <a:xfrm>
            <a:off x="3136391" y="1965960"/>
            <a:ext cx="274320" cy="320040"/>
          </a:xfrm>
          <a:prstGeom prst="chevron">
            <a:avLst/>
          </a:prstGeom>
          <a:solidFill>
            <a:srgbClr val="DB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1600200"/>
            <a:ext cx="1143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Payments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Data + settlement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4462272" y="1965960"/>
            <a:ext cx="274320" cy="320040"/>
          </a:xfrm>
          <a:prstGeom prst="chevron">
            <a:avLst/>
          </a:prstGeom>
          <a:solidFill>
            <a:srgbClr val="DB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1600200"/>
            <a:ext cx="1143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Revenue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Recurring service 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5C6A67"/>
                </a:solidFill>
                <a:latin typeface="Calibri"/>
              </a:rPr>
              <a:t>Long-term government contracts replaced single-sale economics.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5C6A67"/>
                </a:solidFill>
                <a:latin typeface="Calibri"/>
              </a:rPr>
              <a:t>Service revenue reduced market-cycle volatility.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5C6A67"/>
                </a:solidFill>
                <a:latin typeface="Calibri"/>
              </a:rPr>
              <a:t>Operations, maintenance, and payment data became core assets.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097280"/>
            <a:ext cx="5257800" cy="4572000"/>
          </a:xfrm>
          <a:prstGeom prst="roundRect">
            <a:avLst/>
          </a:prstGeom>
          <a:solidFill>
            <a:srgbClr val="E8EFED"/>
          </a:solidFill>
          <a:ln w="1905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7468"/>
                </a:solidFill>
                <a:latin typeface="Calibri"/>
              </a:rPr>
              <a:t>INSERT IMAGE / MODEL DIAGRAM</a:t>
            </a:r>
          </a:p>
          <a:p>
            <a:pPr algn="ctr"/>
            <a:r>
              <a:rPr sz="1100">
                <a:solidFill>
                  <a:srgbClr val="5C6A67"/>
                </a:solidFill>
                <a:latin typeface="Calibri"/>
              </a:rPr>
              <a:t>photo / chart / screenshot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Technology Shift: 1.0 to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2E0DC"/>
                </a:solidFill>
                <a:latin typeface="Calibri"/>
              </a:rPr>
              <a:t>Centralized → Decentralized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6126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2302A"/>
                </a:solidFill>
                <a:latin typeface="Calibri"/>
              </a:rPr>
              <a:t>The “brain” moved from the dock to the bike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2743200" cy="2468880"/>
          </a:xfrm>
          <a:prstGeom prst="roundRect">
            <a:avLst/>
          </a:prstGeom>
          <a:solidFill>
            <a:srgbClr val="F4F8F7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1.0 Architecture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Dock-based
High installation cost
Slow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463040"/>
            <a:ext cx="2743200" cy="2468880"/>
          </a:xfrm>
          <a:prstGeom prst="roundRect">
            <a:avLst/>
          </a:prstGeom>
          <a:solidFill>
            <a:srgbClr val="EFF7F5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2.0 Architecture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On-bike OBU
Faster rollout
Lower deployment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4251960"/>
            <a:ext cx="4343400" cy="914400"/>
          </a:xfrm>
          <a:prstGeom prst="roundRect">
            <a:avLst/>
          </a:prstGeom>
          <a:solidFill>
            <a:srgbClr val="FAF7E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Strategic effect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Site deployment speed ×5 · Cost −60% · Better fit for narrow streets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097280"/>
            <a:ext cx="4983480" cy="4754880"/>
          </a:xfrm>
          <a:prstGeom prst="roundRect">
            <a:avLst/>
          </a:prstGeom>
          <a:solidFill>
            <a:srgbClr val="E8EFED"/>
          </a:solidFill>
          <a:ln w="1905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7468"/>
                </a:solidFill>
                <a:latin typeface="Calibri"/>
              </a:rPr>
              <a:t>INSERT IMAGE / ARCHITECTURE</a:t>
            </a:r>
          </a:p>
          <a:p>
            <a:pPr algn="ctr"/>
            <a:r>
              <a:rPr sz="1100">
                <a:solidFill>
                  <a:srgbClr val="5C6A67"/>
                </a:solidFill>
                <a:latin typeface="Calibri"/>
              </a:rPr>
              <a:t>photo / chart / screenshot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YouBike 2.0E as a Living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2E0DC"/>
                </a:solidFill>
                <a:latin typeface="Calibri"/>
              </a:rPr>
              <a:t>E-bike data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6400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2302A"/>
                </a:solidFill>
                <a:latin typeface="Calibri"/>
              </a:rPr>
              <a:t>Public usage became product R&amp;D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737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10–12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rides / bike / 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508760"/>
            <a:ext cx="1737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Motor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stress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1737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Battery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lifecycle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5394960" cy="2103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5C6A67"/>
                </a:solidFill>
                <a:latin typeface="Calibri"/>
              </a:rPr>
              <a:t>2.0E tested power systems in real urban conditions.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5C6A67"/>
                </a:solidFill>
                <a:latin typeface="Calibri"/>
              </a:rPr>
              <a:t>Usage data fed back into Liv and Giant consumer E-bike R&amp;D.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5C6A67"/>
                </a:solidFill>
                <a:latin typeface="Calibri"/>
              </a:rPr>
              <a:t>The platform worked as a real-world laboratory.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097280"/>
            <a:ext cx="5257800" cy="4572000"/>
          </a:xfrm>
          <a:prstGeom prst="roundRect">
            <a:avLst/>
          </a:prstGeom>
          <a:solidFill>
            <a:srgbClr val="E8EFED"/>
          </a:solidFill>
          <a:ln w="1905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7468"/>
                </a:solidFill>
                <a:latin typeface="Calibri"/>
              </a:rPr>
              <a:t>INSERT IMAGE / PRODUCT PHOTO</a:t>
            </a:r>
          </a:p>
          <a:p>
            <a:pPr algn="ctr"/>
            <a:r>
              <a:rPr sz="1100">
                <a:solidFill>
                  <a:srgbClr val="5C6A67"/>
                </a:solidFill>
                <a:latin typeface="Calibri"/>
              </a:rPr>
              <a:t>photo / chart / screenshot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Strategic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2E0DC"/>
                </a:solidFill>
                <a:latin typeface="Calibri"/>
              </a:rPr>
              <a:t>What managers should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60350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2302A"/>
                </a:solidFill>
                <a:latin typeface="Calibri"/>
              </a:rPr>
              <a:t>The factory was never the finish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1. RBV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Turn materials and durability into a moat.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50876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2. Ecosystem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Build policy, payment, transit, and data 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8036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3. Carbon data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Convert mobility into measurable climate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88036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4. Scale globally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Export the system, not only the bicycle.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572000"/>
            <a:ext cx="6263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400" b="1">
                <a:solidFill>
                  <a:srgbClr val="12302A"/>
                </a:solidFill>
                <a:latin typeface="Calibri"/>
              </a:rPr>
              <a:t>Conclusion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C6A67"/>
                </a:solidFill>
                <a:latin typeface="Calibri"/>
              </a:rPr>
              <a:t>Giant’s pivot shows how a manufacturer becomes a service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097280"/>
            <a:ext cx="4572000" cy="4572000"/>
          </a:xfrm>
          <a:prstGeom prst="roundRect">
            <a:avLst/>
          </a:prstGeom>
          <a:solidFill>
            <a:srgbClr val="E8EFED"/>
          </a:solidFill>
          <a:ln w="19050">
            <a:solidFill>
              <a:srgbClr val="C5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87468"/>
                </a:solidFill>
                <a:latin typeface="Calibri"/>
              </a:rPr>
              <a:t>INSERT IMAGE / CLOSING VISUAL</a:t>
            </a:r>
          </a:p>
          <a:p>
            <a:pPr algn="ctr"/>
            <a:r>
              <a:rPr sz="1100">
                <a:solidFill>
                  <a:srgbClr val="5C6A67"/>
                </a:solidFill>
                <a:latin typeface="Calibri"/>
              </a:rPr>
              <a:t>photo / chart / screenshot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